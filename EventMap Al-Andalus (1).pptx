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ource Sans 3" charset="1" panose="020B0303030403020204"/>
      <p:regular r:id="rId21"/>
    </p:embeddedFont>
    <p:embeddedFont>
      <p:font typeface="Lora" charset="1" panose="00000500000000000000"/>
      <p:regular r:id="rId22"/>
    </p:embeddedFont>
    <p:embeddedFont>
      <p:font typeface="Source Sans 3 Bold" charset="1" panose="020B0303030403020204"/>
      <p:regular r:id="rId27"/>
    </p:embeddedFont>
    <p:embeddedFont>
      <p:font typeface="Consolas" charset="1" panose="020B06090202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http://217.160.32.30/" TargetMode="External" Type="http://schemas.openxmlformats.org/officeDocument/2006/relationships/hyperlink"/><Relationship Id="rId4" Target="https://github.com/jessuss00/EventMap_Al-Andalus.git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4.jpeg" Type="http://schemas.openxmlformats.org/officeDocument/2006/relationships/image"/><Relationship Id="rId4" Target="http://localhost:4200" TargetMode="External" Type="http://schemas.openxmlformats.org/officeDocument/2006/relationships/hyperlink"/><Relationship Id="rId5" Target="http://localhost:8081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http://217.160.32.30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4565" y="861565"/>
            <a:ext cx="7845771" cy="538905"/>
            <a:chOff x="0" y="0"/>
            <a:chExt cx="10461028" cy="7185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60990" cy="718566"/>
            </a:xfrm>
            <a:custGeom>
              <a:avLst/>
              <a:gdLst/>
              <a:ahLst/>
              <a:cxnLst/>
              <a:rect r="r" b="b" t="t" l="l"/>
              <a:pathLst>
                <a:path h="718566" w="10460990">
                  <a:moveTo>
                    <a:pt x="0" y="46355"/>
                  </a:moveTo>
                  <a:cubicBezTo>
                    <a:pt x="0" y="20828"/>
                    <a:pt x="20828" y="0"/>
                    <a:pt x="46355" y="0"/>
                  </a:cubicBezTo>
                  <a:lnTo>
                    <a:pt x="10414636" y="0"/>
                  </a:lnTo>
                  <a:cubicBezTo>
                    <a:pt x="10440289" y="0"/>
                    <a:pt x="10460990" y="20828"/>
                    <a:pt x="10460990" y="46355"/>
                  </a:cubicBezTo>
                  <a:lnTo>
                    <a:pt x="10460990" y="672211"/>
                  </a:lnTo>
                  <a:cubicBezTo>
                    <a:pt x="10460990" y="697865"/>
                    <a:pt x="10440162" y="718566"/>
                    <a:pt x="10414636" y="718566"/>
                  </a:cubicBezTo>
                  <a:lnTo>
                    <a:pt x="46355" y="718566"/>
                  </a:lnTo>
                  <a:cubicBezTo>
                    <a:pt x="20828" y="718566"/>
                    <a:pt x="0" y="697738"/>
                    <a:pt x="0" y="672211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07336" y="3781718"/>
            <a:ext cx="10473328" cy="5866505"/>
            <a:chOff x="0" y="0"/>
            <a:chExt cx="13964437" cy="7822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64413" cy="7822057"/>
            </a:xfrm>
            <a:custGeom>
              <a:avLst/>
              <a:gdLst/>
              <a:ahLst/>
              <a:cxnLst/>
              <a:rect r="r" b="b" t="t" l="l"/>
              <a:pathLst>
                <a:path h="7822057" w="13964413">
                  <a:moveTo>
                    <a:pt x="0" y="0"/>
                  </a:moveTo>
                  <a:lnTo>
                    <a:pt x="13964413" y="0"/>
                  </a:lnTo>
                  <a:lnTo>
                    <a:pt x="13964413" y="7822057"/>
                  </a:lnTo>
                  <a:lnTo>
                    <a:pt x="0" y="7822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7" r="0" b="-16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8396" y="834180"/>
            <a:ext cx="7498109" cy="47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TFG · CFGS DESARROLLO DE APLICACIONES WEB · JESÚS MADROÑAL GUILLÉN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4565" y="1350769"/>
            <a:ext cx="6820500" cy="101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5299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EventMap Al-Andalus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4565" y="2643483"/>
            <a:ext cx="16258880" cy="59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Plataforma web para gestionar y visualizar eventos geolocalizados en Andalucía.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4565" y="847430"/>
            <a:ext cx="1883121" cy="538905"/>
            <a:chOff x="0" y="0"/>
            <a:chExt cx="2510828" cy="7185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0790" cy="718566"/>
            </a:xfrm>
            <a:custGeom>
              <a:avLst/>
              <a:gdLst/>
              <a:ahLst/>
              <a:cxnLst/>
              <a:rect r="r" b="b" t="t" l="l"/>
              <a:pathLst>
                <a:path h="718566" w="2510790">
                  <a:moveTo>
                    <a:pt x="0" y="46355"/>
                  </a:moveTo>
                  <a:cubicBezTo>
                    <a:pt x="0" y="20828"/>
                    <a:pt x="20828" y="0"/>
                    <a:pt x="46355" y="0"/>
                  </a:cubicBezTo>
                  <a:lnTo>
                    <a:pt x="2464435" y="0"/>
                  </a:lnTo>
                  <a:cubicBezTo>
                    <a:pt x="2490089" y="0"/>
                    <a:pt x="2510790" y="20828"/>
                    <a:pt x="2510790" y="46355"/>
                  </a:cubicBezTo>
                  <a:lnTo>
                    <a:pt x="2510790" y="672211"/>
                  </a:lnTo>
                  <a:cubicBezTo>
                    <a:pt x="2510790" y="697865"/>
                    <a:pt x="2489962" y="718566"/>
                    <a:pt x="2464435" y="718566"/>
                  </a:cubicBezTo>
                  <a:lnTo>
                    <a:pt x="46355" y="718566"/>
                  </a:lnTo>
                  <a:cubicBezTo>
                    <a:pt x="20828" y="718566"/>
                    <a:pt x="0" y="697738"/>
                    <a:pt x="0" y="672211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8396" y="820045"/>
            <a:ext cx="1535459" cy="47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INTRODUCCIÓN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4565" y="1336624"/>
            <a:ext cx="10005422" cy="101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5299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Descubre EventMap Al-Andalus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4565" y="2629348"/>
            <a:ext cx="16258880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EventMap Al-Andalus es una plataforma web diseñada para gestionar y visualizar eventos geolocalizados en Andalucía, ofreciendo una experiencia moderna y centralizada para explorar el ocio regional.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4565" y="4001243"/>
            <a:ext cx="579682" cy="579682"/>
            <a:chOff x="0" y="0"/>
            <a:chExt cx="772909" cy="77290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72922" cy="772922"/>
            </a:xfrm>
            <a:custGeom>
              <a:avLst/>
              <a:gdLst/>
              <a:ahLst/>
              <a:cxnLst/>
              <a:rect r="r" b="b" t="t" l="l"/>
              <a:pathLst>
                <a:path h="77292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4565" y="4855664"/>
            <a:ext cx="3410245" cy="50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Elige tu destino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565" y="5383559"/>
            <a:ext cx="5185620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Selecciona tu provincia de interés para ver los eventos.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51114" y="4001243"/>
            <a:ext cx="579682" cy="579682"/>
            <a:chOff x="0" y="0"/>
            <a:chExt cx="772909" cy="77290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72922" cy="772922"/>
            </a:xfrm>
            <a:custGeom>
              <a:avLst/>
              <a:gdLst/>
              <a:ahLst/>
              <a:cxnLst/>
              <a:rect r="r" b="b" t="t" l="l"/>
              <a:pathLst>
                <a:path h="77292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551114" y="4855664"/>
            <a:ext cx="3410245" cy="50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Filtra a tu gusto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51114" y="5383559"/>
            <a:ext cx="5185620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Explora eventos culturales, nocturnos o deportivos.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87673" y="4001243"/>
            <a:ext cx="579682" cy="579682"/>
            <a:chOff x="0" y="0"/>
            <a:chExt cx="772909" cy="772909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72922" cy="772922"/>
            </a:xfrm>
            <a:custGeom>
              <a:avLst/>
              <a:gdLst/>
              <a:ahLst/>
              <a:cxnLst/>
              <a:rect r="r" b="b" t="t" l="l"/>
              <a:pathLst>
                <a:path h="77292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87673" y="4855664"/>
            <a:ext cx="3410245" cy="50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Compra tu entrada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87673" y="5383559"/>
            <a:ext cx="5185620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Accede directamente a la compra de entradas para eventos de pago.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14565" y="7001170"/>
            <a:ext cx="579682" cy="579682"/>
            <a:chOff x="0" y="0"/>
            <a:chExt cx="772909" cy="772909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772922" cy="772922"/>
            </a:xfrm>
            <a:custGeom>
              <a:avLst/>
              <a:gdLst/>
              <a:ahLst/>
              <a:cxnLst/>
              <a:rect r="r" b="b" t="t" l="l"/>
              <a:pathLst>
                <a:path h="77292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14565" y="7855591"/>
            <a:ext cx="3410245" cy="50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Cómo llegar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4565" y="8383486"/>
            <a:ext cx="5185620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Integración con Google Maps para guiarte al evento.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551114" y="7001170"/>
            <a:ext cx="579682" cy="579682"/>
            <a:chOff x="0" y="0"/>
            <a:chExt cx="772909" cy="772909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772922" cy="772922"/>
            </a:xfrm>
            <a:custGeom>
              <a:avLst/>
              <a:gdLst/>
              <a:ahLst/>
              <a:cxnLst/>
              <a:rect r="r" b="b" t="t" l="l"/>
              <a:pathLst>
                <a:path h="77292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551114" y="7855591"/>
            <a:ext cx="3410245" cy="50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Opiniones de otros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51114" y="8383486"/>
            <a:ext cx="5185620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Lee valoraciones de otros usuarios y comparte las tuyas.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150" y="1198359"/>
            <a:ext cx="1898599" cy="562270"/>
            <a:chOff x="0" y="0"/>
            <a:chExt cx="2531466" cy="7496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31491" cy="749681"/>
            </a:xfrm>
            <a:custGeom>
              <a:avLst/>
              <a:gdLst/>
              <a:ahLst/>
              <a:cxnLst/>
              <a:rect r="r" b="b" t="t" l="l"/>
              <a:pathLst>
                <a:path h="749681" w="2531491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2483612" y="0"/>
                  </a:lnTo>
                  <a:cubicBezTo>
                    <a:pt x="2510028" y="0"/>
                    <a:pt x="2531491" y="21463"/>
                    <a:pt x="2531491" y="47879"/>
                  </a:cubicBezTo>
                  <a:lnTo>
                    <a:pt x="2531491" y="701802"/>
                  </a:lnTo>
                  <a:cubicBezTo>
                    <a:pt x="2531491" y="728218"/>
                    <a:pt x="2510028" y="749681"/>
                    <a:pt x="2483612" y="749681"/>
                  </a:cubicBezTo>
                  <a:lnTo>
                    <a:pt x="47879" y="749681"/>
                  </a:lnTo>
                  <a:cubicBezTo>
                    <a:pt x="21463" y="749681"/>
                    <a:pt x="0" y="728218"/>
                    <a:pt x="0" y="701802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26639" y="1154754"/>
            <a:ext cx="1539631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JUSTIFICACIÓN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0" y="1727892"/>
            <a:ext cx="8957967" cy="103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55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Un Problema, Una Solución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0" y="3047105"/>
            <a:ext cx="16193691" cy="159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Al viajar a una nueva ciudad, la falta de información sobre qué eventos hay disponibles puede hacer que sea difícil aprovechar la experiencia al máximo. EventMap Al-Andalus resuelve este problema ayudando a descubrir, de forma rápida y sencilla, qué ocurre en cada destino.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100" y="4962820"/>
            <a:ext cx="5236521" cy="4144718"/>
            <a:chOff x="0" y="0"/>
            <a:chExt cx="6982028" cy="55262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6931151" cy="5475478"/>
            </a:xfrm>
            <a:custGeom>
              <a:avLst/>
              <a:gdLst/>
              <a:ahLst/>
              <a:cxnLst/>
              <a:rect r="r" b="b" t="t" l="l"/>
              <a:pathLst>
                <a:path h="5475478" w="6931151">
                  <a:moveTo>
                    <a:pt x="0" y="59817"/>
                  </a:moveTo>
                  <a:cubicBezTo>
                    <a:pt x="0" y="26797"/>
                    <a:pt x="26797" y="0"/>
                    <a:pt x="59944" y="0"/>
                  </a:cubicBezTo>
                  <a:lnTo>
                    <a:pt x="6871208" y="0"/>
                  </a:lnTo>
                  <a:cubicBezTo>
                    <a:pt x="6904355" y="0"/>
                    <a:pt x="6931151" y="26797"/>
                    <a:pt x="6931151" y="59817"/>
                  </a:cubicBezTo>
                  <a:lnTo>
                    <a:pt x="6931151" y="5415661"/>
                  </a:lnTo>
                  <a:cubicBezTo>
                    <a:pt x="6931151" y="5448681"/>
                    <a:pt x="6904355" y="5475478"/>
                    <a:pt x="6871208" y="5475478"/>
                  </a:cubicBezTo>
                  <a:lnTo>
                    <a:pt x="59944" y="5475478"/>
                  </a:lnTo>
                  <a:cubicBezTo>
                    <a:pt x="26797" y="5475478"/>
                    <a:pt x="0" y="5448681"/>
                    <a:pt x="0" y="5415661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1951" cy="5526278"/>
            </a:xfrm>
            <a:custGeom>
              <a:avLst/>
              <a:gdLst/>
              <a:ahLst/>
              <a:cxnLst/>
              <a:rect r="r" b="b" t="t" l="l"/>
              <a:pathLst>
                <a:path h="5526278" w="6981951">
                  <a:moveTo>
                    <a:pt x="0" y="85217"/>
                  </a:moveTo>
                  <a:cubicBezTo>
                    <a:pt x="0" y="38100"/>
                    <a:pt x="38227" y="0"/>
                    <a:pt x="85344" y="0"/>
                  </a:cubicBezTo>
                  <a:lnTo>
                    <a:pt x="6896608" y="0"/>
                  </a:lnTo>
                  <a:lnTo>
                    <a:pt x="6896608" y="25400"/>
                  </a:lnTo>
                  <a:lnTo>
                    <a:pt x="6896608" y="0"/>
                  </a:lnTo>
                  <a:cubicBezTo>
                    <a:pt x="6943725" y="0"/>
                    <a:pt x="6981951" y="38100"/>
                    <a:pt x="6981951" y="85217"/>
                  </a:cubicBezTo>
                  <a:lnTo>
                    <a:pt x="6956551" y="85217"/>
                  </a:lnTo>
                  <a:lnTo>
                    <a:pt x="6981951" y="85217"/>
                  </a:lnTo>
                  <a:lnTo>
                    <a:pt x="6981951" y="5441061"/>
                  </a:lnTo>
                  <a:lnTo>
                    <a:pt x="6956551" y="5441061"/>
                  </a:lnTo>
                  <a:lnTo>
                    <a:pt x="6981951" y="5441061"/>
                  </a:lnTo>
                  <a:cubicBezTo>
                    <a:pt x="6981951" y="5488178"/>
                    <a:pt x="6943725" y="5526278"/>
                    <a:pt x="6896608" y="5526278"/>
                  </a:cubicBezTo>
                  <a:lnTo>
                    <a:pt x="6896608" y="5500878"/>
                  </a:lnTo>
                  <a:lnTo>
                    <a:pt x="6896608" y="5526278"/>
                  </a:lnTo>
                  <a:lnTo>
                    <a:pt x="85344" y="5526278"/>
                  </a:lnTo>
                  <a:lnTo>
                    <a:pt x="85344" y="5500878"/>
                  </a:lnTo>
                  <a:lnTo>
                    <a:pt x="85344" y="5526278"/>
                  </a:lnTo>
                  <a:cubicBezTo>
                    <a:pt x="38227" y="5526278"/>
                    <a:pt x="0" y="5488178"/>
                    <a:pt x="0" y="5441061"/>
                  </a:cubicBezTo>
                  <a:lnTo>
                    <a:pt x="0" y="85217"/>
                  </a:lnTo>
                  <a:lnTo>
                    <a:pt x="25400" y="85217"/>
                  </a:lnTo>
                  <a:lnTo>
                    <a:pt x="0" y="85217"/>
                  </a:lnTo>
                  <a:moveTo>
                    <a:pt x="50800" y="85217"/>
                  </a:moveTo>
                  <a:lnTo>
                    <a:pt x="50800" y="5441061"/>
                  </a:lnTo>
                  <a:lnTo>
                    <a:pt x="25400" y="5441061"/>
                  </a:lnTo>
                  <a:lnTo>
                    <a:pt x="50800" y="5441061"/>
                  </a:lnTo>
                  <a:cubicBezTo>
                    <a:pt x="50800" y="5459984"/>
                    <a:pt x="66167" y="5475478"/>
                    <a:pt x="85344" y="5475478"/>
                  </a:cubicBezTo>
                  <a:lnTo>
                    <a:pt x="6896608" y="5475478"/>
                  </a:lnTo>
                  <a:cubicBezTo>
                    <a:pt x="6915785" y="5475478"/>
                    <a:pt x="6931151" y="5459984"/>
                    <a:pt x="6931151" y="5441061"/>
                  </a:cubicBezTo>
                  <a:lnTo>
                    <a:pt x="6931151" y="85217"/>
                  </a:lnTo>
                  <a:cubicBezTo>
                    <a:pt x="6931151" y="66294"/>
                    <a:pt x="6915785" y="50800"/>
                    <a:pt x="6896608" y="50800"/>
                  </a:cubicBezTo>
                  <a:lnTo>
                    <a:pt x="85344" y="50800"/>
                  </a:lnTo>
                  <a:lnTo>
                    <a:pt x="85344" y="25400"/>
                  </a:lnTo>
                  <a:lnTo>
                    <a:pt x="85344" y="50800"/>
                  </a:lnTo>
                  <a:cubicBezTo>
                    <a:pt x="66167" y="50800"/>
                    <a:pt x="50800" y="66294"/>
                    <a:pt x="50800" y="85217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5250" y="5019970"/>
            <a:ext cx="5122221" cy="897579"/>
            <a:chOff x="0" y="0"/>
            <a:chExt cx="6829628" cy="11967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9679" cy="1196721"/>
            </a:xfrm>
            <a:custGeom>
              <a:avLst/>
              <a:gdLst/>
              <a:ahLst/>
              <a:cxnLst/>
              <a:rect r="r" b="b" t="t" l="l"/>
              <a:pathLst>
                <a:path h="1196721" w="6829679">
                  <a:moveTo>
                    <a:pt x="0" y="0"/>
                  </a:moveTo>
                  <a:lnTo>
                    <a:pt x="6829679" y="0"/>
                  </a:lnTo>
                  <a:lnTo>
                    <a:pt x="6829679" y="1196721"/>
                  </a:lnTo>
                  <a:lnTo>
                    <a:pt x="0" y="1196721"/>
                  </a:lnTo>
                  <a:close/>
                </a:path>
              </a:pathLst>
            </a:custGeom>
            <a:solidFill>
              <a:srgbClr val="F3E7D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422009" y="5244408"/>
            <a:ext cx="448713" cy="448713"/>
            <a:chOff x="0" y="0"/>
            <a:chExt cx="598284" cy="598284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0"/>
                  </a:moveTo>
                  <a:lnTo>
                    <a:pt x="598297" y="0"/>
                  </a:lnTo>
                  <a:lnTo>
                    <a:pt x="598297" y="598297"/>
                  </a:lnTo>
                  <a:lnTo>
                    <a:pt x="0" y="598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84402" y="6140501"/>
            <a:ext cx="3555654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Adiós al Aburrimiento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4402" y="6674196"/>
            <a:ext cx="4523927" cy="207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 EventMap, siempre habrá un plan esperándote. Olvídate de los momentos vacíos y sumérgete en la vibrante vida de Andalucía.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25663" y="4962820"/>
            <a:ext cx="5236521" cy="4144718"/>
            <a:chOff x="0" y="0"/>
            <a:chExt cx="6982028" cy="55262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6931151" cy="5475478"/>
            </a:xfrm>
            <a:custGeom>
              <a:avLst/>
              <a:gdLst/>
              <a:ahLst/>
              <a:cxnLst/>
              <a:rect r="r" b="b" t="t" l="l"/>
              <a:pathLst>
                <a:path h="5475478" w="6931151">
                  <a:moveTo>
                    <a:pt x="0" y="59817"/>
                  </a:moveTo>
                  <a:cubicBezTo>
                    <a:pt x="0" y="26797"/>
                    <a:pt x="26797" y="0"/>
                    <a:pt x="59944" y="0"/>
                  </a:cubicBezTo>
                  <a:lnTo>
                    <a:pt x="6871208" y="0"/>
                  </a:lnTo>
                  <a:cubicBezTo>
                    <a:pt x="6904355" y="0"/>
                    <a:pt x="6931151" y="26797"/>
                    <a:pt x="6931151" y="59817"/>
                  </a:cubicBezTo>
                  <a:lnTo>
                    <a:pt x="6931151" y="5415661"/>
                  </a:lnTo>
                  <a:cubicBezTo>
                    <a:pt x="6931151" y="5448681"/>
                    <a:pt x="6904355" y="5475478"/>
                    <a:pt x="6871208" y="5475478"/>
                  </a:cubicBezTo>
                  <a:lnTo>
                    <a:pt x="59944" y="5475478"/>
                  </a:lnTo>
                  <a:cubicBezTo>
                    <a:pt x="26797" y="5475478"/>
                    <a:pt x="0" y="5448681"/>
                    <a:pt x="0" y="5415661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81951" cy="5526278"/>
            </a:xfrm>
            <a:custGeom>
              <a:avLst/>
              <a:gdLst/>
              <a:ahLst/>
              <a:cxnLst/>
              <a:rect r="r" b="b" t="t" l="l"/>
              <a:pathLst>
                <a:path h="5526278" w="6981951">
                  <a:moveTo>
                    <a:pt x="0" y="85217"/>
                  </a:moveTo>
                  <a:cubicBezTo>
                    <a:pt x="0" y="38100"/>
                    <a:pt x="38227" y="0"/>
                    <a:pt x="85344" y="0"/>
                  </a:cubicBezTo>
                  <a:lnTo>
                    <a:pt x="6896608" y="0"/>
                  </a:lnTo>
                  <a:lnTo>
                    <a:pt x="6896608" y="25400"/>
                  </a:lnTo>
                  <a:lnTo>
                    <a:pt x="6896608" y="0"/>
                  </a:lnTo>
                  <a:cubicBezTo>
                    <a:pt x="6943725" y="0"/>
                    <a:pt x="6981951" y="38100"/>
                    <a:pt x="6981951" y="85217"/>
                  </a:cubicBezTo>
                  <a:lnTo>
                    <a:pt x="6956551" y="85217"/>
                  </a:lnTo>
                  <a:lnTo>
                    <a:pt x="6981951" y="85217"/>
                  </a:lnTo>
                  <a:lnTo>
                    <a:pt x="6981951" y="5441061"/>
                  </a:lnTo>
                  <a:lnTo>
                    <a:pt x="6956551" y="5441061"/>
                  </a:lnTo>
                  <a:lnTo>
                    <a:pt x="6981951" y="5441061"/>
                  </a:lnTo>
                  <a:cubicBezTo>
                    <a:pt x="6981951" y="5488178"/>
                    <a:pt x="6943725" y="5526278"/>
                    <a:pt x="6896608" y="5526278"/>
                  </a:cubicBezTo>
                  <a:lnTo>
                    <a:pt x="6896608" y="5500878"/>
                  </a:lnTo>
                  <a:lnTo>
                    <a:pt x="6896608" y="5526278"/>
                  </a:lnTo>
                  <a:lnTo>
                    <a:pt x="85344" y="5526278"/>
                  </a:lnTo>
                  <a:lnTo>
                    <a:pt x="85344" y="5500878"/>
                  </a:lnTo>
                  <a:lnTo>
                    <a:pt x="85344" y="5526278"/>
                  </a:lnTo>
                  <a:cubicBezTo>
                    <a:pt x="38227" y="5526278"/>
                    <a:pt x="0" y="5488178"/>
                    <a:pt x="0" y="5441061"/>
                  </a:cubicBezTo>
                  <a:lnTo>
                    <a:pt x="0" y="85217"/>
                  </a:lnTo>
                  <a:lnTo>
                    <a:pt x="25400" y="85217"/>
                  </a:lnTo>
                  <a:lnTo>
                    <a:pt x="0" y="85217"/>
                  </a:lnTo>
                  <a:moveTo>
                    <a:pt x="50800" y="85217"/>
                  </a:moveTo>
                  <a:lnTo>
                    <a:pt x="50800" y="5441061"/>
                  </a:lnTo>
                  <a:lnTo>
                    <a:pt x="25400" y="5441061"/>
                  </a:lnTo>
                  <a:lnTo>
                    <a:pt x="50800" y="5441061"/>
                  </a:lnTo>
                  <a:cubicBezTo>
                    <a:pt x="50800" y="5459984"/>
                    <a:pt x="66167" y="5475478"/>
                    <a:pt x="85344" y="5475478"/>
                  </a:cubicBezTo>
                  <a:lnTo>
                    <a:pt x="6896608" y="5475478"/>
                  </a:lnTo>
                  <a:cubicBezTo>
                    <a:pt x="6915785" y="5475478"/>
                    <a:pt x="6931151" y="5459984"/>
                    <a:pt x="6931151" y="5441061"/>
                  </a:cubicBezTo>
                  <a:lnTo>
                    <a:pt x="6931151" y="85217"/>
                  </a:lnTo>
                  <a:cubicBezTo>
                    <a:pt x="6931151" y="66294"/>
                    <a:pt x="6915785" y="50800"/>
                    <a:pt x="6896608" y="50800"/>
                  </a:cubicBezTo>
                  <a:lnTo>
                    <a:pt x="85344" y="50800"/>
                  </a:lnTo>
                  <a:lnTo>
                    <a:pt x="85344" y="25400"/>
                  </a:lnTo>
                  <a:lnTo>
                    <a:pt x="85344" y="50800"/>
                  </a:lnTo>
                  <a:cubicBezTo>
                    <a:pt x="66167" y="50800"/>
                    <a:pt x="50800" y="66294"/>
                    <a:pt x="50800" y="85217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82813" y="5019970"/>
            <a:ext cx="5122221" cy="897579"/>
            <a:chOff x="0" y="0"/>
            <a:chExt cx="6829628" cy="11967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9679" cy="1196721"/>
            </a:xfrm>
            <a:custGeom>
              <a:avLst/>
              <a:gdLst/>
              <a:ahLst/>
              <a:cxnLst/>
              <a:rect r="r" b="b" t="t" l="l"/>
              <a:pathLst>
                <a:path h="1196721" w="6829679">
                  <a:moveTo>
                    <a:pt x="0" y="0"/>
                  </a:moveTo>
                  <a:lnTo>
                    <a:pt x="6829679" y="0"/>
                  </a:lnTo>
                  <a:lnTo>
                    <a:pt x="6829679" y="1196721"/>
                  </a:lnTo>
                  <a:lnTo>
                    <a:pt x="0" y="1196721"/>
                  </a:lnTo>
                  <a:close/>
                </a:path>
              </a:pathLst>
            </a:custGeom>
            <a:solidFill>
              <a:srgbClr val="F3E7D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919572" y="5244408"/>
            <a:ext cx="448713" cy="448713"/>
            <a:chOff x="0" y="0"/>
            <a:chExt cx="598284" cy="598284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0"/>
                  </a:moveTo>
                  <a:lnTo>
                    <a:pt x="598297" y="0"/>
                  </a:lnTo>
                  <a:lnTo>
                    <a:pt x="598297" y="598297"/>
                  </a:lnTo>
                  <a:lnTo>
                    <a:pt x="0" y="598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881965" y="6140501"/>
            <a:ext cx="352023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Viajes al Máximo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81965" y="6674196"/>
            <a:ext cx="4523927" cy="207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Aprovecha cada minuto de tu visita. Descubre eventos culturales, deportivos y de ocio que enriquecerán tu experiencia.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023227" y="4962820"/>
            <a:ext cx="5236664" cy="4144718"/>
            <a:chOff x="0" y="0"/>
            <a:chExt cx="6982219" cy="55262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6931406" cy="5475478"/>
            </a:xfrm>
            <a:custGeom>
              <a:avLst/>
              <a:gdLst/>
              <a:ahLst/>
              <a:cxnLst/>
              <a:rect r="r" b="b" t="t" l="l"/>
              <a:pathLst>
                <a:path h="5475478" w="6931406">
                  <a:moveTo>
                    <a:pt x="0" y="59817"/>
                  </a:moveTo>
                  <a:cubicBezTo>
                    <a:pt x="0" y="26797"/>
                    <a:pt x="26797" y="0"/>
                    <a:pt x="59944" y="0"/>
                  </a:cubicBezTo>
                  <a:lnTo>
                    <a:pt x="6871462" y="0"/>
                  </a:lnTo>
                  <a:cubicBezTo>
                    <a:pt x="6904609" y="0"/>
                    <a:pt x="6931406" y="26797"/>
                    <a:pt x="6931406" y="59817"/>
                  </a:cubicBezTo>
                  <a:lnTo>
                    <a:pt x="6931406" y="5415661"/>
                  </a:lnTo>
                  <a:cubicBezTo>
                    <a:pt x="6931406" y="5448681"/>
                    <a:pt x="6904609" y="5475478"/>
                    <a:pt x="6871462" y="5475478"/>
                  </a:cubicBezTo>
                  <a:lnTo>
                    <a:pt x="59944" y="5475478"/>
                  </a:lnTo>
                  <a:cubicBezTo>
                    <a:pt x="26797" y="5475478"/>
                    <a:pt x="0" y="5448681"/>
                    <a:pt x="0" y="5415661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82206" cy="5526278"/>
            </a:xfrm>
            <a:custGeom>
              <a:avLst/>
              <a:gdLst/>
              <a:ahLst/>
              <a:cxnLst/>
              <a:rect r="r" b="b" t="t" l="l"/>
              <a:pathLst>
                <a:path h="5526278" w="6982206">
                  <a:moveTo>
                    <a:pt x="0" y="85217"/>
                  </a:moveTo>
                  <a:cubicBezTo>
                    <a:pt x="0" y="38100"/>
                    <a:pt x="38227" y="0"/>
                    <a:pt x="85344" y="0"/>
                  </a:cubicBezTo>
                  <a:lnTo>
                    <a:pt x="6896862" y="0"/>
                  </a:lnTo>
                  <a:lnTo>
                    <a:pt x="6896862" y="25400"/>
                  </a:lnTo>
                  <a:lnTo>
                    <a:pt x="6896862" y="0"/>
                  </a:lnTo>
                  <a:cubicBezTo>
                    <a:pt x="6943979" y="0"/>
                    <a:pt x="6982206" y="38100"/>
                    <a:pt x="6982206" y="85217"/>
                  </a:cubicBezTo>
                  <a:lnTo>
                    <a:pt x="6956806" y="85217"/>
                  </a:lnTo>
                  <a:lnTo>
                    <a:pt x="6982206" y="85217"/>
                  </a:lnTo>
                  <a:lnTo>
                    <a:pt x="6982206" y="5441061"/>
                  </a:lnTo>
                  <a:lnTo>
                    <a:pt x="6956806" y="5441061"/>
                  </a:lnTo>
                  <a:lnTo>
                    <a:pt x="6982206" y="5441061"/>
                  </a:lnTo>
                  <a:cubicBezTo>
                    <a:pt x="6982206" y="5488178"/>
                    <a:pt x="6943979" y="5526278"/>
                    <a:pt x="6896862" y="5526278"/>
                  </a:cubicBezTo>
                  <a:lnTo>
                    <a:pt x="6896862" y="5500878"/>
                  </a:lnTo>
                  <a:lnTo>
                    <a:pt x="6896862" y="5526278"/>
                  </a:lnTo>
                  <a:lnTo>
                    <a:pt x="85344" y="5526278"/>
                  </a:lnTo>
                  <a:lnTo>
                    <a:pt x="85344" y="5500878"/>
                  </a:lnTo>
                  <a:lnTo>
                    <a:pt x="85344" y="5526278"/>
                  </a:lnTo>
                  <a:cubicBezTo>
                    <a:pt x="38227" y="5526278"/>
                    <a:pt x="0" y="5488178"/>
                    <a:pt x="0" y="5441061"/>
                  </a:cubicBezTo>
                  <a:lnTo>
                    <a:pt x="0" y="85217"/>
                  </a:lnTo>
                  <a:lnTo>
                    <a:pt x="25400" y="85217"/>
                  </a:lnTo>
                  <a:lnTo>
                    <a:pt x="0" y="85217"/>
                  </a:lnTo>
                  <a:moveTo>
                    <a:pt x="50800" y="85217"/>
                  </a:moveTo>
                  <a:lnTo>
                    <a:pt x="50800" y="5441061"/>
                  </a:lnTo>
                  <a:lnTo>
                    <a:pt x="25400" y="5441061"/>
                  </a:lnTo>
                  <a:lnTo>
                    <a:pt x="50800" y="5441061"/>
                  </a:lnTo>
                  <a:cubicBezTo>
                    <a:pt x="50800" y="5459984"/>
                    <a:pt x="66167" y="5475478"/>
                    <a:pt x="85344" y="5475478"/>
                  </a:cubicBezTo>
                  <a:lnTo>
                    <a:pt x="6896862" y="5475478"/>
                  </a:lnTo>
                  <a:cubicBezTo>
                    <a:pt x="6916039" y="5475478"/>
                    <a:pt x="6931406" y="5459984"/>
                    <a:pt x="6931406" y="5441061"/>
                  </a:cubicBezTo>
                  <a:lnTo>
                    <a:pt x="6931406" y="85217"/>
                  </a:lnTo>
                  <a:cubicBezTo>
                    <a:pt x="6931406" y="66294"/>
                    <a:pt x="6916039" y="50800"/>
                    <a:pt x="6896862" y="50800"/>
                  </a:cubicBezTo>
                  <a:lnTo>
                    <a:pt x="85344" y="50800"/>
                  </a:lnTo>
                  <a:lnTo>
                    <a:pt x="85344" y="25400"/>
                  </a:lnTo>
                  <a:lnTo>
                    <a:pt x="85344" y="50800"/>
                  </a:lnTo>
                  <a:cubicBezTo>
                    <a:pt x="66167" y="50800"/>
                    <a:pt x="50800" y="66294"/>
                    <a:pt x="50800" y="85217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80377" y="5019970"/>
            <a:ext cx="5122364" cy="897579"/>
            <a:chOff x="0" y="0"/>
            <a:chExt cx="6829819" cy="11967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9806" cy="1196721"/>
            </a:xfrm>
            <a:custGeom>
              <a:avLst/>
              <a:gdLst/>
              <a:ahLst/>
              <a:cxnLst/>
              <a:rect r="r" b="b" t="t" l="l"/>
              <a:pathLst>
                <a:path h="1196721" w="6829806">
                  <a:moveTo>
                    <a:pt x="0" y="0"/>
                  </a:moveTo>
                  <a:lnTo>
                    <a:pt x="6829806" y="0"/>
                  </a:lnTo>
                  <a:lnTo>
                    <a:pt x="6829806" y="1196721"/>
                  </a:lnTo>
                  <a:lnTo>
                    <a:pt x="0" y="1196721"/>
                  </a:lnTo>
                  <a:close/>
                </a:path>
              </a:pathLst>
            </a:custGeom>
            <a:solidFill>
              <a:srgbClr val="F3E7D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417126" y="5244408"/>
            <a:ext cx="448713" cy="448713"/>
            <a:chOff x="0" y="0"/>
            <a:chExt cx="598284" cy="598284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0"/>
                  </a:moveTo>
                  <a:lnTo>
                    <a:pt x="598297" y="0"/>
                  </a:lnTo>
                  <a:lnTo>
                    <a:pt x="598297" y="598297"/>
                  </a:lnTo>
                  <a:lnTo>
                    <a:pt x="0" y="598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379528" y="6140501"/>
            <a:ext cx="352023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Impulsa lo Local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79528" y="6674196"/>
            <a:ext cx="4524080" cy="207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Ayudamos a dinamizar la economía de nuestras ciudades, dando visibilidad a pequeños y grandes eventos que atraen a más visitantes.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4565" y="847430"/>
            <a:ext cx="1652588" cy="538905"/>
            <a:chOff x="0" y="0"/>
            <a:chExt cx="2203450" cy="7185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3450" cy="718566"/>
            </a:xfrm>
            <a:custGeom>
              <a:avLst/>
              <a:gdLst/>
              <a:ahLst/>
              <a:cxnLst/>
              <a:rect r="r" b="b" t="t" l="l"/>
              <a:pathLst>
                <a:path h="718566" w="2203450">
                  <a:moveTo>
                    <a:pt x="0" y="46355"/>
                  </a:moveTo>
                  <a:cubicBezTo>
                    <a:pt x="0" y="20828"/>
                    <a:pt x="20828" y="0"/>
                    <a:pt x="46355" y="0"/>
                  </a:cubicBezTo>
                  <a:lnTo>
                    <a:pt x="2157095" y="0"/>
                  </a:lnTo>
                  <a:cubicBezTo>
                    <a:pt x="2182749" y="0"/>
                    <a:pt x="2203450" y="20828"/>
                    <a:pt x="2203450" y="46355"/>
                  </a:cubicBezTo>
                  <a:lnTo>
                    <a:pt x="2203450" y="672211"/>
                  </a:lnTo>
                  <a:cubicBezTo>
                    <a:pt x="2203450" y="697865"/>
                    <a:pt x="2182622" y="718566"/>
                    <a:pt x="2157095" y="718566"/>
                  </a:cubicBezTo>
                  <a:lnTo>
                    <a:pt x="46355" y="718566"/>
                  </a:lnTo>
                  <a:cubicBezTo>
                    <a:pt x="20828" y="718566"/>
                    <a:pt x="0" y="697738"/>
                    <a:pt x="0" y="672211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88396" y="820045"/>
            <a:ext cx="1304925" cy="47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DESARROLLO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4565" y="1336624"/>
            <a:ext cx="6820500" cy="101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5299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Objetivos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4565" y="2629348"/>
            <a:ext cx="16258880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visión de EventMap Al-Andalus se materializa a través de objetivos claros y funciones robustas que garantizan una experiencia óptima para el usuario y una gestión eficiente.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4565" y="4001243"/>
            <a:ext cx="579682" cy="579682"/>
            <a:chOff x="0" y="0"/>
            <a:chExt cx="772909" cy="77290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72922" cy="772922"/>
            </a:xfrm>
            <a:custGeom>
              <a:avLst/>
              <a:gdLst/>
              <a:ahLst/>
              <a:cxnLst/>
              <a:rect r="r" b="b" t="t" l="l"/>
              <a:pathLst>
                <a:path h="77292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4565" y="4855664"/>
            <a:ext cx="3410245" cy="50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Centralización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565" y="5383559"/>
            <a:ext cx="7953966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Agrupar eventos de diversas categorías en una única base de datos para facilitar la búsqueda y el descubrimiento.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19470" y="4001243"/>
            <a:ext cx="579682" cy="579682"/>
            <a:chOff x="0" y="0"/>
            <a:chExt cx="772909" cy="77290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72922" cy="772922"/>
            </a:xfrm>
            <a:custGeom>
              <a:avLst/>
              <a:gdLst/>
              <a:ahLst/>
              <a:cxnLst/>
              <a:rect r="r" b="b" t="t" l="l"/>
              <a:pathLst>
                <a:path h="77292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19470" y="4855664"/>
            <a:ext cx="3410245" cy="50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Interactividad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19470" y="5383559"/>
            <a:ext cx="7953966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Fomentar la participación activa de los usuarios mediante comentarios, valoraciones y gestión de eventos favoritos.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14565" y="7001170"/>
            <a:ext cx="579682" cy="579682"/>
            <a:chOff x="0" y="0"/>
            <a:chExt cx="772909" cy="772909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72922" cy="772922"/>
            </a:xfrm>
            <a:custGeom>
              <a:avLst/>
              <a:gdLst/>
              <a:ahLst/>
              <a:cxnLst/>
              <a:rect r="r" b="b" t="t" l="l"/>
              <a:pathLst>
                <a:path h="77292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14565" y="7855591"/>
            <a:ext cx="3410245" cy="50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Accesibilidad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4565" y="8383486"/>
            <a:ext cx="7953966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Asegurar la usabilidad y la disponibilidad de la plataforma en cualquier dispositivo, garantizando una experiencia fluida.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9470" y="7001170"/>
            <a:ext cx="579682" cy="579682"/>
            <a:chOff x="0" y="0"/>
            <a:chExt cx="772909" cy="772909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772922" cy="772922"/>
            </a:xfrm>
            <a:custGeom>
              <a:avLst/>
              <a:gdLst/>
              <a:ahLst/>
              <a:cxnLst/>
              <a:rect r="r" b="b" t="t" l="l"/>
              <a:pathLst>
                <a:path h="77292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319470" y="7855591"/>
            <a:ext cx="3410245" cy="50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Seguridad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19470" y="8383486"/>
            <a:ext cx="7953966" cy="105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Implementar sistemas robustos de autenticación y autorización para proteger los datos y la integridad de la información.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9081" y="759171"/>
            <a:ext cx="1546469" cy="493366"/>
            <a:chOff x="0" y="0"/>
            <a:chExt cx="2061959" cy="6578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1972" cy="657860"/>
            </a:xfrm>
            <a:custGeom>
              <a:avLst/>
              <a:gdLst/>
              <a:ahLst/>
              <a:cxnLst/>
              <a:rect r="r" b="b" t="t" l="l"/>
              <a:pathLst>
                <a:path h="657860" w="2061972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2018538" y="0"/>
                  </a:lnTo>
                  <a:cubicBezTo>
                    <a:pt x="2042541" y="0"/>
                    <a:pt x="2061972" y="19431"/>
                    <a:pt x="2061972" y="43434"/>
                  </a:cubicBezTo>
                  <a:lnTo>
                    <a:pt x="2061972" y="614426"/>
                  </a:lnTo>
                  <a:cubicBezTo>
                    <a:pt x="2061972" y="638429"/>
                    <a:pt x="2042541" y="657860"/>
                    <a:pt x="2018538" y="657860"/>
                  </a:cubicBezTo>
                  <a:lnTo>
                    <a:pt x="43434" y="657860"/>
                  </a:lnTo>
                  <a:cubicBezTo>
                    <a:pt x="19431" y="657860"/>
                    <a:pt x="0" y="638429"/>
                    <a:pt x="0" y="614426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1748" y="735654"/>
            <a:ext cx="1221134" cy="43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17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DESARROLLO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081" y="1217409"/>
            <a:ext cx="7671787" cy="93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9"/>
              </a:lnSpc>
            </a:pPr>
            <a:r>
              <a:rPr lang="en-US" sz="4999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Ciclo de vida del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081" y="2392861"/>
            <a:ext cx="16389848" cy="95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Para el desarrollo de EventMap Al-Andalus se adoptó un modelo </a:t>
            </a:r>
            <a:r>
              <a:rPr lang="en-US" b="true" sz="2100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Iterativo e Incremental</a:t>
            </a: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. Este enfoque permitió la creación de funcionalidades esenciales y su constante mejora a través de ciclos de retroalimentación.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9081" y="3619948"/>
            <a:ext cx="542334" cy="338880"/>
            <a:chOff x="0" y="0"/>
            <a:chExt cx="723113" cy="4518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3107" cy="451843"/>
            </a:xfrm>
            <a:custGeom>
              <a:avLst/>
              <a:gdLst/>
              <a:ahLst/>
              <a:cxnLst/>
              <a:rect r="r" b="b" t="t" l="l"/>
              <a:pathLst>
                <a:path h="451843" w="723107">
                  <a:moveTo>
                    <a:pt x="0" y="0"/>
                  </a:moveTo>
                  <a:lnTo>
                    <a:pt x="723107" y="0"/>
                  </a:lnTo>
                  <a:lnTo>
                    <a:pt x="723107" y="451843"/>
                  </a:lnTo>
                  <a:lnTo>
                    <a:pt x="0" y="4518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1" t="0" r="-3017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723113" cy="451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9081" y="4042620"/>
            <a:ext cx="5299472" cy="38100"/>
            <a:chOff x="0" y="0"/>
            <a:chExt cx="7065962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66026" cy="50800"/>
            </a:xfrm>
            <a:custGeom>
              <a:avLst/>
              <a:gdLst/>
              <a:ahLst/>
              <a:cxnLst/>
              <a:rect r="r" b="b" t="t" l="l"/>
              <a:pathLst>
                <a:path h="50800" w="7066026">
                  <a:moveTo>
                    <a:pt x="0" y="0"/>
                  </a:moveTo>
                  <a:lnTo>
                    <a:pt x="7066026" y="0"/>
                  </a:lnTo>
                  <a:lnTo>
                    <a:pt x="706602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49081" y="4178198"/>
            <a:ext cx="3190132" cy="47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Análisis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081" y="4676775"/>
            <a:ext cx="5299472" cy="177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Definición detallada de requisitos funcionales y no funcionales, así como el modelado de datos para estructurar la información de eventos y usuarios.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94259" y="3619948"/>
            <a:ext cx="542334" cy="338880"/>
            <a:chOff x="0" y="0"/>
            <a:chExt cx="723113" cy="4518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3107" cy="451843"/>
            </a:xfrm>
            <a:custGeom>
              <a:avLst/>
              <a:gdLst/>
              <a:ahLst/>
              <a:cxnLst/>
              <a:rect r="r" b="b" t="t" l="l"/>
              <a:pathLst>
                <a:path h="451843" w="723107">
                  <a:moveTo>
                    <a:pt x="0" y="0"/>
                  </a:moveTo>
                  <a:lnTo>
                    <a:pt x="723107" y="0"/>
                  </a:lnTo>
                  <a:lnTo>
                    <a:pt x="723107" y="451843"/>
                  </a:lnTo>
                  <a:lnTo>
                    <a:pt x="0" y="4518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1" t="0" r="-3017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23113" cy="451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94259" y="4042620"/>
            <a:ext cx="5299472" cy="38100"/>
            <a:chOff x="0" y="0"/>
            <a:chExt cx="7065962" cy="5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66026" cy="50800"/>
            </a:xfrm>
            <a:custGeom>
              <a:avLst/>
              <a:gdLst/>
              <a:ahLst/>
              <a:cxnLst/>
              <a:rect r="r" b="b" t="t" l="l"/>
              <a:pathLst>
                <a:path h="50800" w="7066026">
                  <a:moveTo>
                    <a:pt x="0" y="0"/>
                  </a:moveTo>
                  <a:lnTo>
                    <a:pt x="7066026" y="0"/>
                  </a:lnTo>
                  <a:lnTo>
                    <a:pt x="706602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494259" y="4178198"/>
            <a:ext cx="3190132" cy="47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Diseño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94259" y="4676775"/>
            <a:ext cx="5299472" cy="177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Elaboración de la arquitectura del sistema, diseño de diagramas de clases y prototipado de la interfaz de usuario (UI) para una experiencia intuitiva.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39448" y="3619948"/>
            <a:ext cx="542334" cy="338880"/>
            <a:chOff x="0" y="0"/>
            <a:chExt cx="723113" cy="4518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3107" cy="451843"/>
            </a:xfrm>
            <a:custGeom>
              <a:avLst/>
              <a:gdLst/>
              <a:ahLst/>
              <a:cxnLst/>
              <a:rect r="r" b="b" t="t" l="l"/>
              <a:pathLst>
                <a:path h="451843" w="723107">
                  <a:moveTo>
                    <a:pt x="0" y="0"/>
                  </a:moveTo>
                  <a:lnTo>
                    <a:pt x="723107" y="0"/>
                  </a:lnTo>
                  <a:lnTo>
                    <a:pt x="723107" y="451843"/>
                  </a:lnTo>
                  <a:lnTo>
                    <a:pt x="0" y="4518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1" t="0" r="-3017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23113" cy="451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39448" y="4042620"/>
            <a:ext cx="5299472" cy="38100"/>
            <a:chOff x="0" y="0"/>
            <a:chExt cx="7065962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66026" cy="50800"/>
            </a:xfrm>
            <a:custGeom>
              <a:avLst/>
              <a:gdLst/>
              <a:ahLst/>
              <a:cxnLst/>
              <a:rect r="r" b="b" t="t" l="l"/>
              <a:pathLst>
                <a:path h="50800" w="7066026">
                  <a:moveTo>
                    <a:pt x="0" y="0"/>
                  </a:moveTo>
                  <a:lnTo>
                    <a:pt x="7066026" y="0"/>
                  </a:lnTo>
                  <a:lnTo>
                    <a:pt x="706602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039448" y="4178198"/>
            <a:ext cx="3190132" cy="47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Desarrollo (Sprint 1)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39448" y="4676775"/>
            <a:ext cx="5299472" cy="1777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Implementación del Backend mediante una API REST robusta y la configuración de la Base de Datos para el almacenamiento eficiente de la información.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49081" y="6903396"/>
            <a:ext cx="542334" cy="338880"/>
            <a:chOff x="0" y="0"/>
            <a:chExt cx="723113" cy="4518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3107" cy="451843"/>
            </a:xfrm>
            <a:custGeom>
              <a:avLst/>
              <a:gdLst/>
              <a:ahLst/>
              <a:cxnLst/>
              <a:rect r="r" b="b" t="t" l="l"/>
              <a:pathLst>
                <a:path h="451843" w="723107">
                  <a:moveTo>
                    <a:pt x="0" y="0"/>
                  </a:moveTo>
                  <a:lnTo>
                    <a:pt x="723107" y="0"/>
                  </a:lnTo>
                  <a:lnTo>
                    <a:pt x="723107" y="451843"/>
                  </a:lnTo>
                  <a:lnTo>
                    <a:pt x="0" y="4518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1" t="0" r="-3017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23113" cy="451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9081" y="7326068"/>
            <a:ext cx="8071990" cy="38100"/>
            <a:chOff x="0" y="0"/>
            <a:chExt cx="10762653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62615" cy="50800"/>
            </a:xfrm>
            <a:custGeom>
              <a:avLst/>
              <a:gdLst/>
              <a:ahLst/>
              <a:cxnLst/>
              <a:rect r="r" b="b" t="t" l="l"/>
              <a:pathLst>
                <a:path h="50800" w="10762615">
                  <a:moveTo>
                    <a:pt x="0" y="0"/>
                  </a:moveTo>
                  <a:lnTo>
                    <a:pt x="10762615" y="0"/>
                  </a:lnTo>
                  <a:lnTo>
                    <a:pt x="1076261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49081" y="7461647"/>
            <a:ext cx="3190132" cy="47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Desarrollo (Sprint 2)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9081" y="7960223"/>
            <a:ext cx="8071990" cy="95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Creación del Frontend utilizando Angular, enfocado en la interactividad y la integración perfecta con la API del Backend.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66787" y="6903396"/>
            <a:ext cx="542334" cy="338880"/>
            <a:chOff x="0" y="0"/>
            <a:chExt cx="723113" cy="45184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3107" cy="451843"/>
            </a:xfrm>
            <a:custGeom>
              <a:avLst/>
              <a:gdLst/>
              <a:ahLst/>
              <a:cxnLst/>
              <a:rect r="r" b="b" t="t" l="l"/>
              <a:pathLst>
                <a:path h="451843" w="723107">
                  <a:moveTo>
                    <a:pt x="0" y="0"/>
                  </a:moveTo>
                  <a:lnTo>
                    <a:pt x="723107" y="0"/>
                  </a:lnTo>
                  <a:lnTo>
                    <a:pt x="723107" y="451843"/>
                  </a:lnTo>
                  <a:lnTo>
                    <a:pt x="0" y="4518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1" t="0" r="-3017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23113" cy="451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05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66787" y="7326068"/>
            <a:ext cx="8072142" cy="38100"/>
            <a:chOff x="0" y="0"/>
            <a:chExt cx="10762856" cy="5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62869" cy="50800"/>
            </a:xfrm>
            <a:custGeom>
              <a:avLst/>
              <a:gdLst/>
              <a:ahLst/>
              <a:cxnLst/>
              <a:rect r="r" b="b" t="t" l="l"/>
              <a:pathLst>
                <a:path h="50800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266787" y="7461647"/>
            <a:ext cx="3190132" cy="47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499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Pruebas y Despliegue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66787" y="7960223"/>
            <a:ext cx="8072142" cy="1364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1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Validación exhaustiva de todas las funcionalidades y despliegue final de la aplicación en un VPS utilizando contenedores Docker para garantizar escalabilidad y portabilidad.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9960" y="719728"/>
            <a:ext cx="1465812" cy="460029"/>
            <a:chOff x="0" y="0"/>
            <a:chExt cx="1954416" cy="6133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4403" cy="613410"/>
            </a:xfrm>
            <a:custGeom>
              <a:avLst/>
              <a:gdLst/>
              <a:ahLst/>
              <a:cxnLst/>
              <a:rect r="r" b="b" t="t" l="l"/>
              <a:pathLst>
                <a:path h="613410" w="1954403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1913255" y="0"/>
                  </a:lnTo>
                  <a:cubicBezTo>
                    <a:pt x="1935988" y="0"/>
                    <a:pt x="1954403" y="18415"/>
                    <a:pt x="1954403" y="41148"/>
                  </a:cubicBezTo>
                  <a:lnTo>
                    <a:pt x="1954403" y="572262"/>
                  </a:lnTo>
                  <a:cubicBezTo>
                    <a:pt x="1954403" y="594995"/>
                    <a:pt x="1935988" y="613410"/>
                    <a:pt x="1913255" y="613410"/>
                  </a:cubicBezTo>
                  <a:lnTo>
                    <a:pt x="41148" y="613410"/>
                  </a:lnTo>
                  <a:cubicBezTo>
                    <a:pt x="18415" y="613410"/>
                    <a:pt x="0" y="594995"/>
                    <a:pt x="0" y="572262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54151" y="711098"/>
            <a:ext cx="1157440" cy="39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6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DESARROLLO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960" y="1134666"/>
            <a:ext cx="8835923" cy="88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9"/>
              </a:lnSpc>
            </a:pPr>
            <a:r>
              <a:rPr lang="en-US" sz="47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Diagramas de Entidad-Relación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152407" y="2355656"/>
            <a:ext cx="5983186" cy="7211463"/>
            <a:chOff x="0" y="0"/>
            <a:chExt cx="7977581" cy="9615284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977632" cy="9615297"/>
            </a:xfrm>
            <a:custGeom>
              <a:avLst/>
              <a:gdLst/>
              <a:ahLst/>
              <a:cxnLst/>
              <a:rect r="r" b="b" t="t" l="l"/>
              <a:pathLst>
                <a:path h="9615297" w="7977632">
                  <a:moveTo>
                    <a:pt x="0" y="0"/>
                  </a:moveTo>
                  <a:lnTo>
                    <a:pt x="7977632" y="0"/>
                  </a:lnTo>
                  <a:lnTo>
                    <a:pt x="7977632" y="9615297"/>
                  </a:lnTo>
                  <a:lnTo>
                    <a:pt x="0" y="9615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0786" y="885377"/>
            <a:ext cx="1679229" cy="550516"/>
            <a:chOff x="0" y="0"/>
            <a:chExt cx="2238972" cy="7340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9010" cy="734060"/>
            </a:xfrm>
            <a:custGeom>
              <a:avLst/>
              <a:gdLst/>
              <a:ahLst/>
              <a:cxnLst/>
              <a:rect r="r" b="b" t="t" l="l"/>
              <a:pathLst>
                <a:path h="734060" w="223901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2191893" y="0"/>
                  </a:lnTo>
                  <a:cubicBezTo>
                    <a:pt x="2217928" y="0"/>
                    <a:pt x="2239010" y="21082"/>
                    <a:pt x="2239010" y="47117"/>
                  </a:cubicBezTo>
                  <a:lnTo>
                    <a:pt x="2239010" y="686943"/>
                  </a:lnTo>
                  <a:cubicBezTo>
                    <a:pt x="2239010" y="712978"/>
                    <a:pt x="2217928" y="734060"/>
                    <a:pt x="2191893" y="734060"/>
                  </a:cubicBezTo>
                  <a:lnTo>
                    <a:pt x="47117" y="734060"/>
                  </a:lnTo>
                  <a:cubicBezTo>
                    <a:pt x="21082" y="734060"/>
                    <a:pt x="0" y="712978"/>
                    <a:pt x="0" y="686943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07446" y="849811"/>
            <a:ext cx="1325909" cy="49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DESARROLLO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786" y="1389907"/>
            <a:ext cx="6930476" cy="102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5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Diagramas de clases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95180" y="2853033"/>
            <a:ext cx="4897488" cy="6548590"/>
            <a:chOff x="0" y="0"/>
            <a:chExt cx="6529984" cy="87314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529959" cy="8731504"/>
            </a:xfrm>
            <a:custGeom>
              <a:avLst/>
              <a:gdLst/>
              <a:ahLst/>
              <a:cxnLst/>
              <a:rect r="r" b="b" t="t" l="l"/>
              <a:pathLst>
                <a:path h="8731504" w="6529959">
                  <a:moveTo>
                    <a:pt x="0" y="0"/>
                  </a:moveTo>
                  <a:lnTo>
                    <a:pt x="6529959" y="0"/>
                  </a:lnTo>
                  <a:lnTo>
                    <a:pt x="6529959" y="8731504"/>
                  </a:lnTo>
                  <a:lnTo>
                    <a:pt x="0" y="8731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3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150" y="2380059"/>
            <a:ext cx="1706613" cy="562270"/>
            <a:chOff x="0" y="0"/>
            <a:chExt cx="2275484" cy="7496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5459" cy="749681"/>
            </a:xfrm>
            <a:custGeom>
              <a:avLst/>
              <a:gdLst/>
              <a:ahLst/>
              <a:cxnLst/>
              <a:rect r="r" b="b" t="t" l="l"/>
              <a:pathLst>
                <a:path h="749681" w="2275459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2227580" y="0"/>
                  </a:lnTo>
                  <a:cubicBezTo>
                    <a:pt x="2253996" y="0"/>
                    <a:pt x="2275459" y="21463"/>
                    <a:pt x="2275459" y="47879"/>
                  </a:cubicBezTo>
                  <a:lnTo>
                    <a:pt x="2275459" y="701802"/>
                  </a:lnTo>
                  <a:cubicBezTo>
                    <a:pt x="2275459" y="728218"/>
                    <a:pt x="2253996" y="749681"/>
                    <a:pt x="2227580" y="749681"/>
                  </a:cubicBezTo>
                  <a:lnTo>
                    <a:pt x="47879" y="749681"/>
                  </a:lnTo>
                  <a:cubicBezTo>
                    <a:pt x="21463" y="749681"/>
                    <a:pt x="0" y="728218"/>
                    <a:pt x="0" y="701802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26639" y="2336454"/>
            <a:ext cx="1347635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DESARROLLO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0" y="2938167"/>
            <a:ext cx="6977062" cy="82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Tecnologías y arquitectura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7150" y="4214812"/>
            <a:ext cx="7947269" cy="1696488"/>
            <a:chOff x="0" y="0"/>
            <a:chExt cx="10596359" cy="22619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96373" cy="2261997"/>
            </a:xfrm>
            <a:custGeom>
              <a:avLst/>
              <a:gdLst/>
              <a:ahLst/>
              <a:cxnLst/>
              <a:rect r="r" b="b" t="t" l="l"/>
              <a:pathLst>
                <a:path h="2261997" w="10596373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2202180"/>
                  </a:lnTo>
                  <a:cubicBezTo>
                    <a:pt x="10596373" y="2235200"/>
                    <a:pt x="10569575" y="2261997"/>
                    <a:pt x="10536555" y="2261997"/>
                  </a:cubicBezTo>
                  <a:lnTo>
                    <a:pt x="59817" y="2261997"/>
                  </a:lnTo>
                  <a:cubicBezTo>
                    <a:pt x="26797" y="2261997"/>
                    <a:pt x="0" y="2235200"/>
                    <a:pt x="0" y="2202180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46302" y="4437755"/>
            <a:ext cx="352023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Backend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6302" y="4971459"/>
            <a:ext cx="7348985" cy="6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Java 21 · Spring Boot 3 · Spring Security · JPA/Hibernate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93571" y="4214812"/>
            <a:ext cx="7947269" cy="1696488"/>
            <a:chOff x="0" y="0"/>
            <a:chExt cx="10596359" cy="2261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96373" cy="2261997"/>
            </a:xfrm>
            <a:custGeom>
              <a:avLst/>
              <a:gdLst/>
              <a:ahLst/>
              <a:cxnLst/>
              <a:rect r="r" b="b" t="t" l="l"/>
              <a:pathLst>
                <a:path h="2261997" w="10596373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2202180"/>
                  </a:lnTo>
                  <a:cubicBezTo>
                    <a:pt x="10596373" y="2235200"/>
                    <a:pt x="10569575" y="2261997"/>
                    <a:pt x="10536555" y="2261997"/>
                  </a:cubicBezTo>
                  <a:lnTo>
                    <a:pt x="59817" y="2261997"/>
                  </a:lnTo>
                  <a:cubicBezTo>
                    <a:pt x="26797" y="2261997"/>
                    <a:pt x="0" y="2235200"/>
                    <a:pt x="0" y="2202180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592713" y="4437755"/>
            <a:ext cx="352023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Frontend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92713" y="4971459"/>
            <a:ext cx="7348985" cy="6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Angular 17 · Signals · Lazy Loading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47150" y="6210452"/>
            <a:ext cx="7947269" cy="1696488"/>
            <a:chOff x="0" y="0"/>
            <a:chExt cx="10596359" cy="2261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96373" cy="2261997"/>
            </a:xfrm>
            <a:custGeom>
              <a:avLst/>
              <a:gdLst/>
              <a:ahLst/>
              <a:cxnLst/>
              <a:rect r="r" b="b" t="t" l="l"/>
              <a:pathLst>
                <a:path h="2261997" w="10596373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2202180"/>
                  </a:lnTo>
                  <a:cubicBezTo>
                    <a:pt x="10596373" y="2235200"/>
                    <a:pt x="10569575" y="2261997"/>
                    <a:pt x="10536555" y="2261997"/>
                  </a:cubicBezTo>
                  <a:lnTo>
                    <a:pt x="59817" y="2261997"/>
                  </a:lnTo>
                  <a:cubicBezTo>
                    <a:pt x="26797" y="2261997"/>
                    <a:pt x="0" y="2235200"/>
                    <a:pt x="0" y="2202180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46302" y="6433395"/>
            <a:ext cx="352023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Infraestructura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6302" y="6967090"/>
            <a:ext cx="7348985" cy="6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MySQL 8 · Docker &amp; Docker Compose · Nginx · VPS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93571" y="6210452"/>
            <a:ext cx="7947269" cy="1696488"/>
            <a:chOff x="0" y="0"/>
            <a:chExt cx="10596359" cy="2261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96373" cy="2261997"/>
            </a:xfrm>
            <a:custGeom>
              <a:avLst/>
              <a:gdLst/>
              <a:ahLst/>
              <a:cxnLst/>
              <a:rect r="r" b="b" t="t" l="l"/>
              <a:pathLst>
                <a:path h="2261997" w="10596373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0536555" y="0"/>
                  </a:lnTo>
                  <a:cubicBezTo>
                    <a:pt x="10569575" y="0"/>
                    <a:pt x="10596373" y="26797"/>
                    <a:pt x="10596373" y="59817"/>
                  </a:cubicBezTo>
                  <a:lnTo>
                    <a:pt x="10596373" y="2202180"/>
                  </a:lnTo>
                  <a:cubicBezTo>
                    <a:pt x="10596373" y="2235200"/>
                    <a:pt x="10569575" y="2261997"/>
                    <a:pt x="10536555" y="2261997"/>
                  </a:cubicBezTo>
                  <a:lnTo>
                    <a:pt x="59817" y="2261997"/>
                  </a:lnTo>
                  <a:cubicBezTo>
                    <a:pt x="26797" y="2261997"/>
                    <a:pt x="0" y="2235200"/>
                    <a:pt x="0" y="2202180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92713" y="6433395"/>
            <a:ext cx="352023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Despliegue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92713" y="6967090"/>
            <a:ext cx="7348985" cy="6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2300" u="sng">
                <a:solidFill>
                  <a:srgbClr val="0563C1"/>
                </a:solidFill>
                <a:latin typeface="Source Sans 3"/>
                <a:ea typeface="Source Sans 3"/>
                <a:cs typeface="Source Sans 3"/>
                <a:sym typeface="Source Sans 3"/>
                <a:hlinkClick r:id="rId3" tooltip="http://217.160.32.30/"/>
              </a:rPr>
              <a:t>217.160.32.30</a:t>
            </a: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lang="en-US" sz="2300" u="sng">
                <a:solidFill>
                  <a:srgbClr val="0563C1"/>
                </a:solidFill>
                <a:latin typeface="Source Sans 3"/>
                <a:ea typeface="Source Sans 3"/>
                <a:cs typeface="Source Sans 3"/>
                <a:sym typeface="Source Sans 3"/>
                <a:hlinkClick r:id="rId4" tooltip="https://github.com/jessuss00/EventMap_Al-Andalus.git"/>
              </a:rPr>
              <a:t>GitHub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6099" y="704698"/>
            <a:ext cx="1373829" cy="449018"/>
            <a:chOff x="0" y="0"/>
            <a:chExt cx="1831772" cy="5986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1721" cy="598678"/>
            </a:xfrm>
            <a:custGeom>
              <a:avLst/>
              <a:gdLst/>
              <a:ahLst/>
              <a:cxnLst/>
              <a:rect r="r" b="b" t="t" l="l"/>
              <a:pathLst>
                <a:path h="598678" w="1831721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1791335" y="0"/>
                  </a:lnTo>
                  <a:cubicBezTo>
                    <a:pt x="1813687" y="0"/>
                    <a:pt x="1831721" y="18034"/>
                    <a:pt x="1831721" y="40386"/>
                  </a:cubicBezTo>
                  <a:lnTo>
                    <a:pt x="1831721" y="558292"/>
                  </a:lnTo>
                  <a:cubicBezTo>
                    <a:pt x="1831721" y="580644"/>
                    <a:pt x="1813687" y="598678"/>
                    <a:pt x="1791335" y="598678"/>
                  </a:cubicBezTo>
                  <a:lnTo>
                    <a:pt x="40386" y="598678"/>
                  </a:lnTo>
                  <a:cubicBezTo>
                    <a:pt x="18034" y="598678"/>
                    <a:pt x="0" y="580644"/>
                    <a:pt x="0" y="558292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7461" y="694582"/>
            <a:ext cx="1071115" cy="383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15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DESPLIEGUE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6099" y="1105500"/>
            <a:ext cx="5940476" cy="87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46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Guía de Despliegue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6099" y="2301030"/>
            <a:ext cx="504825" cy="315516"/>
            <a:chOff x="0" y="0"/>
            <a:chExt cx="673100" cy="4206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3101" cy="420688"/>
            </a:xfrm>
            <a:custGeom>
              <a:avLst/>
              <a:gdLst/>
              <a:ahLst/>
              <a:cxnLst/>
              <a:rect r="r" b="b" t="t" l="l"/>
              <a:pathLst>
                <a:path h="420688" w="673101">
                  <a:moveTo>
                    <a:pt x="0" y="0"/>
                  </a:moveTo>
                  <a:lnTo>
                    <a:pt x="673101" y="0"/>
                  </a:lnTo>
                  <a:lnTo>
                    <a:pt x="673101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673100" cy="41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6099" y="2701528"/>
            <a:ext cx="8091335" cy="28575"/>
            <a:chOff x="0" y="0"/>
            <a:chExt cx="10788447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88396" cy="38100"/>
            </a:xfrm>
            <a:custGeom>
              <a:avLst/>
              <a:gdLst/>
              <a:ahLst/>
              <a:cxnLst/>
              <a:rect r="r" b="b" t="t" l="l"/>
              <a:pathLst>
                <a:path h="38100" w="10788396">
                  <a:moveTo>
                    <a:pt x="0" y="0"/>
                  </a:moveTo>
                  <a:lnTo>
                    <a:pt x="10788396" y="0"/>
                  </a:lnTo>
                  <a:lnTo>
                    <a:pt x="1078839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46099" y="2827734"/>
            <a:ext cx="3504457" cy="42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3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Clonación del repositorio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099" y="3269609"/>
            <a:ext cx="8091335" cy="85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19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Obtén el código fuente del proyecto desde GitHub utilizando el siguiente comando: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6099" y="4367955"/>
            <a:ext cx="8091335" cy="877043"/>
            <a:chOff x="0" y="0"/>
            <a:chExt cx="10788447" cy="1169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88523" cy="1169416"/>
            </a:xfrm>
            <a:custGeom>
              <a:avLst/>
              <a:gdLst/>
              <a:ahLst/>
              <a:cxnLst/>
              <a:rect r="r" b="b" t="t" l="l"/>
              <a:pathLst>
                <a:path h="1169416" w="10788523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737977" y="0"/>
                  </a:lnTo>
                  <a:cubicBezTo>
                    <a:pt x="10765917" y="0"/>
                    <a:pt x="10788523" y="22606"/>
                    <a:pt x="10788523" y="50546"/>
                  </a:cubicBezTo>
                  <a:lnTo>
                    <a:pt x="10788523" y="1118870"/>
                  </a:lnTo>
                  <a:cubicBezTo>
                    <a:pt x="10788523" y="1146810"/>
                    <a:pt x="10765917" y="1169416"/>
                    <a:pt x="10737977" y="1169416"/>
                  </a:cubicBezTo>
                  <a:lnTo>
                    <a:pt x="50546" y="1169416"/>
                  </a:lnTo>
                  <a:cubicBezTo>
                    <a:pt x="22606" y="1169416"/>
                    <a:pt x="0" y="1146810"/>
                    <a:pt x="0" y="1118870"/>
                  </a:cubicBezTo>
                  <a:close/>
                </a:path>
              </a:pathLst>
            </a:custGeom>
            <a:solidFill>
              <a:srgbClr val="F1E8D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3602" y="4367955"/>
            <a:ext cx="8116338" cy="877043"/>
            <a:chOff x="0" y="0"/>
            <a:chExt cx="10821784" cy="1169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21797" cy="1169416"/>
            </a:xfrm>
            <a:custGeom>
              <a:avLst/>
              <a:gdLst/>
              <a:ahLst/>
              <a:cxnLst/>
              <a:rect r="r" b="b" t="t" l="l"/>
              <a:pathLst>
                <a:path h="1169416" w="10821797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771251" y="0"/>
                  </a:lnTo>
                  <a:cubicBezTo>
                    <a:pt x="10799191" y="0"/>
                    <a:pt x="10821797" y="22606"/>
                    <a:pt x="10821797" y="50546"/>
                  </a:cubicBezTo>
                  <a:lnTo>
                    <a:pt x="10821797" y="1118870"/>
                  </a:lnTo>
                  <a:cubicBezTo>
                    <a:pt x="10821797" y="1146810"/>
                    <a:pt x="10799191" y="1169416"/>
                    <a:pt x="10771251" y="1169416"/>
                  </a:cubicBezTo>
                  <a:lnTo>
                    <a:pt x="50546" y="1169416"/>
                  </a:lnTo>
                  <a:cubicBezTo>
                    <a:pt x="22606" y="1169416"/>
                    <a:pt x="0" y="1146810"/>
                    <a:pt x="0" y="1118870"/>
                  </a:cubicBezTo>
                  <a:close/>
                </a:path>
              </a:pathLst>
            </a:custGeom>
            <a:solidFill>
              <a:srgbClr val="F1E8D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49118" y="4467968"/>
            <a:ext cx="7485307" cy="52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1900">
                <a:solidFill>
                  <a:srgbClr val="3A3630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https://github.com/jessuss00/EventMap_Al-Andalus.git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50413" y="2301030"/>
            <a:ext cx="504825" cy="315516"/>
            <a:chOff x="0" y="0"/>
            <a:chExt cx="673100" cy="4206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3101" cy="420688"/>
            </a:xfrm>
            <a:custGeom>
              <a:avLst/>
              <a:gdLst/>
              <a:ahLst/>
              <a:cxnLst/>
              <a:rect r="r" b="b" t="t" l="l"/>
              <a:pathLst>
                <a:path h="420688" w="673101">
                  <a:moveTo>
                    <a:pt x="0" y="0"/>
                  </a:moveTo>
                  <a:lnTo>
                    <a:pt x="673101" y="0"/>
                  </a:lnTo>
                  <a:lnTo>
                    <a:pt x="673101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673100" cy="41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50413" y="2701528"/>
            <a:ext cx="8091488" cy="28575"/>
            <a:chOff x="0" y="0"/>
            <a:chExt cx="10788650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88650" cy="38100"/>
            </a:xfrm>
            <a:custGeom>
              <a:avLst/>
              <a:gdLst/>
              <a:ahLst/>
              <a:cxnLst/>
              <a:rect r="r" b="b" t="t" l="l"/>
              <a:pathLst>
                <a:path h="38100" w="10788650">
                  <a:moveTo>
                    <a:pt x="0" y="0"/>
                  </a:moveTo>
                  <a:lnTo>
                    <a:pt x="10788650" y="0"/>
                  </a:lnTo>
                  <a:lnTo>
                    <a:pt x="107886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250413" y="2827734"/>
            <a:ext cx="5287118" cy="42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3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Configuración de variables de entorno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50413" y="3269609"/>
            <a:ext cx="8091488" cy="125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19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Revisa el archivo application.properties en el módulo del backend. Asegúrate de que la URL de la base de datos apunte correctamente al contenedor de la base de datos.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0413" y="4759223"/>
            <a:ext cx="8091488" cy="877043"/>
            <a:chOff x="0" y="0"/>
            <a:chExt cx="10788650" cy="11693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88650" cy="1169416"/>
            </a:xfrm>
            <a:custGeom>
              <a:avLst/>
              <a:gdLst/>
              <a:ahLst/>
              <a:cxnLst/>
              <a:rect r="r" b="b" t="t" l="l"/>
              <a:pathLst>
                <a:path h="1169416" w="10788650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738104" y="0"/>
                  </a:lnTo>
                  <a:cubicBezTo>
                    <a:pt x="10766044" y="0"/>
                    <a:pt x="10788650" y="22606"/>
                    <a:pt x="10788650" y="50546"/>
                  </a:cubicBezTo>
                  <a:lnTo>
                    <a:pt x="10788650" y="1118870"/>
                  </a:lnTo>
                  <a:cubicBezTo>
                    <a:pt x="10788650" y="1146810"/>
                    <a:pt x="10766044" y="1169416"/>
                    <a:pt x="10738104" y="1169416"/>
                  </a:cubicBezTo>
                  <a:lnTo>
                    <a:pt x="50546" y="1169416"/>
                  </a:lnTo>
                  <a:cubicBezTo>
                    <a:pt x="22606" y="1169416"/>
                    <a:pt x="0" y="1146810"/>
                    <a:pt x="0" y="1118870"/>
                  </a:cubicBezTo>
                  <a:close/>
                </a:path>
              </a:pathLst>
            </a:custGeom>
            <a:solidFill>
              <a:srgbClr val="F1E8D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37907" y="4759223"/>
            <a:ext cx="8116491" cy="877043"/>
            <a:chOff x="0" y="0"/>
            <a:chExt cx="10821988" cy="11693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22051" cy="1169416"/>
            </a:xfrm>
            <a:custGeom>
              <a:avLst/>
              <a:gdLst/>
              <a:ahLst/>
              <a:cxnLst/>
              <a:rect r="r" b="b" t="t" l="l"/>
              <a:pathLst>
                <a:path h="1169416" w="10822051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771505" y="0"/>
                  </a:lnTo>
                  <a:cubicBezTo>
                    <a:pt x="10799445" y="0"/>
                    <a:pt x="10822051" y="22606"/>
                    <a:pt x="10822051" y="50546"/>
                  </a:cubicBezTo>
                  <a:lnTo>
                    <a:pt x="10822051" y="1118870"/>
                  </a:lnTo>
                  <a:cubicBezTo>
                    <a:pt x="10822051" y="1146810"/>
                    <a:pt x="10799445" y="1169416"/>
                    <a:pt x="10771505" y="1169416"/>
                  </a:cubicBezTo>
                  <a:lnTo>
                    <a:pt x="50546" y="1169416"/>
                  </a:lnTo>
                  <a:cubicBezTo>
                    <a:pt x="22606" y="1169416"/>
                    <a:pt x="0" y="1146810"/>
                    <a:pt x="0" y="1118870"/>
                  </a:cubicBezTo>
                  <a:close/>
                </a:path>
              </a:pathLst>
            </a:custGeom>
            <a:solidFill>
              <a:srgbClr val="F1E8DA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553423" y="4859236"/>
            <a:ext cx="7485459" cy="52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1900">
                <a:solidFill>
                  <a:srgbClr val="3A3630"/>
                </a:solidFill>
                <a:latin typeface="Consolas"/>
                <a:ea typeface="Consolas"/>
                <a:cs typeface="Consolas"/>
                <a:sym typeface="Consolas"/>
              </a:rPr>
              <a:t>spring.datasource.url=jdbc:mysql://db:3306/TFG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6099" y="6038555"/>
            <a:ext cx="504825" cy="315516"/>
            <a:chOff x="0" y="0"/>
            <a:chExt cx="673100" cy="4206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3101" cy="420688"/>
            </a:xfrm>
            <a:custGeom>
              <a:avLst/>
              <a:gdLst/>
              <a:ahLst/>
              <a:cxnLst/>
              <a:rect r="r" b="b" t="t" l="l"/>
              <a:pathLst>
                <a:path h="420688" w="673101">
                  <a:moveTo>
                    <a:pt x="0" y="0"/>
                  </a:moveTo>
                  <a:lnTo>
                    <a:pt x="673101" y="0"/>
                  </a:lnTo>
                  <a:lnTo>
                    <a:pt x="673101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673100" cy="41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6099" y="6439052"/>
            <a:ext cx="8091335" cy="28575"/>
            <a:chOff x="0" y="0"/>
            <a:chExt cx="10788447" cy="3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88396" cy="38100"/>
            </a:xfrm>
            <a:custGeom>
              <a:avLst/>
              <a:gdLst/>
              <a:ahLst/>
              <a:cxnLst/>
              <a:rect r="r" b="b" t="t" l="l"/>
              <a:pathLst>
                <a:path h="38100" w="10788396">
                  <a:moveTo>
                    <a:pt x="0" y="0"/>
                  </a:moveTo>
                  <a:lnTo>
                    <a:pt x="10788396" y="0"/>
                  </a:lnTo>
                  <a:lnTo>
                    <a:pt x="1078839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46099" y="6565259"/>
            <a:ext cx="6475657" cy="42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3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Construcción y arranque con Docker Compose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6099" y="7007123"/>
            <a:ext cx="8091335" cy="126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19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Desde la raíz del proyecto, donde se encuentra el archivo docker-compose.yml, ejecuta el siguiente comando para construir las imágenes y arrancar los servicios en segundo plano: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46099" y="8515798"/>
            <a:ext cx="8091335" cy="877043"/>
            <a:chOff x="0" y="0"/>
            <a:chExt cx="10788447" cy="1169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88523" cy="1169416"/>
            </a:xfrm>
            <a:custGeom>
              <a:avLst/>
              <a:gdLst/>
              <a:ahLst/>
              <a:cxnLst/>
              <a:rect r="r" b="b" t="t" l="l"/>
              <a:pathLst>
                <a:path h="1169416" w="10788523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737977" y="0"/>
                  </a:lnTo>
                  <a:cubicBezTo>
                    <a:pt x="10765917" y="0"/>
                    <a:pt x="10788523" y="22606"/>
                    <a:pt x="10788523" y="50546"/>
                  </a:cubicBezTo>
                  <a:lnTo>
                    <a:pt x="10788523" y="1118870"/>
                  </a:lnTo>
                  <a:cubicBezTo>
                    <a:pt x="10788523" y="1146810"/>
                    <a:pt x="10765917" y="1169416"/>
                    <a:pt x="10737977" y="1169416"/>
                  </a:cubicBezTo>
                  <a:lnTo>
                    <a:pt x="50546" y="1169416"/>
                  </a:lnTo>
                  <a:cubicBezTo>
                    <a:pt x="22606" y="1169416"/>
                    <a:pt x="0" y="1146810"/>
                    <a:pt x="0" y="1118870"/>
                  </a:cubicBezTo>
                  <a:close/>
                </a:path>
              </a:pathLst>
            </a:custGeom>
            <a:solidFill>
              <a:srgbClr val="F1E8D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33602" y="8515798"/>
            <a:ext cx="8116338" cy="877043"/>
            <a:chOff x="0" y="0"/>
            <a:chExt cx="10821784" cy="11693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21797" cy="1169416"/>
            </a:xfrm>
            <a:custGeom>
              <a:avLst/>
              <a:gdLst/>
              <a:ahLst/>
              <a:cxnLst/>
              <a:rect r="r" b="b" t="t" l="l"/>
              <a:pathLst>
                <a:path h="1169416" w="10821797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0771251" y="0"/>
                  </a:lnTo>
                  <a:cubicBezTo>
                    <a:pt x="10799191" y="0"/>
                    <a:pt x="10821797" y="22606"/>
                    <a:pt x="10821797" y="50546"/>
                  </a:cubicBezTo>
                  <a:lnTo>
                    <a:pt x="10821797" y="1118870"/>
                  </a:lnTo>
                  <a:cubicBezTo>
                    <a:pt x="10821797" y="1146810"/>
                    <a:pt x="10799191" y="1169416"/>
                    <a:pt x="10771251" y="1169416"/>
                  </a:cubicBezTo>
                  <a:lnTo>
                    <a:pt x="50546" y="1169416"/>
                  </a:lnTo>
                  <a:cubicBezTo>
                    <a:pt x="22606" y="1169416"/>
                    <a:pt x="0" y="1146810"/>
                    <a:pt x="0" y="1118870"/>
                  </a:cubicBezTo>
                  <a:close/>
                </a:path>
              </a:pathLst>
            </a:custGeom>
            <a:solidFill>
              <a:srgbClr val="F1E8DA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249118" y="8615810"/>
            <a:ext cx="7485307" cy="52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1900">
                <a:solidFill>
                  <a:srgbClr val="3A3630"/>
                </a:solidFill>
                <a:latin typeface="Consolas"/>
                <a:ea typeface="Consolas"/>
                <a:cs typeface="Consolas"/>
                <a:sym typeface="Consolas"/>
              </a:rPr>
              <a:t>docker-compose up -d --build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250413" y="6038555"/>
            <a:ext cx="504825" cy="315516"/>
            <a:chOff x="0" y="0"/>
            <a:chExt cx="673100" cy="4206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3101" cy="420688"/>
            </a:xfrm>
            <a:custGeom>
              <a:avLst/>
              <a:gdLst/>
              <a:ahLst/>
              <a:cxnLst/>
              <a:rect r="r" b="b" t="t" l="l"/>
              <a:pathLst>
                <a:path h="420688" w="673101">
                  <a:moveTo>
                    <a:pt x="0" y="0"/>
                  </a:moveTo>
                  <a:lnTo>
                    <a:pt x="673101" y="0"/>
                  </a:lnTo>
                  <a:lnTo>
                    <a:pt x="673101" y="420688"/>
                  </a:lnTo>
                  <a:lnTo>
                    <a:pt x="0" y="42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673100" cy="41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A3630"/>
                  </a:solidFill>
                  <a:latin typeface="Lora"/>
                  <a:ea typeface="Lora"/>
                  <a:cs typeface="Lora"/>
                  <a:sym typeface="Lora"/>
                </a:rPr>
                <a:t>04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250413" y="6439052"/>
            <a:ext cx="8091488" cy="28575"/>
            <a:chOff x="0" y="0"/>
            <a:chExt cx="10788650" cy="381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88650" cy="38100"/>
            </a:xfrm>
            <a:custGeom>
              <a:avLst/>
              <a:gdLst/>
              <a:ahLst/>
              <a:cxnLst/>
              <a:rect r="r" b="b" t="t" l="l"/>
              <a:pathLst>
                <a:path h="38100" w="10788650">
                  <a:moveTo>
                    <a:pt x="0" y="0"/>
                  </a:moveTo>
                  <a:lnTo>
                    <a:pt x="10788650" y="0"/>
                  </a:lnTo>
                  <a:lnTo>
                    <a:pt x="1078865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9250413" y="6565259"/>
            <a:ext cx="2992936" cy="42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3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Acceso a la aplicación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250413" y="7007123"/>
            <a:ext cx="8091488" cy="85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19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Una vez que todos los servicios estén en funcionamiento, podrás acceder a la aplicación mediante las siguientes URLs: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250413" y="7879261"/>
            <a:ext cx="8091488" cy="933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70" indent="-229235" lvl="1">
              <a:lnSpc>
                <a:spcPts val="3479"/>
              </a:lnSpc>
              <a:buFont typeface="Arial"/>
              <a:buChar char="•"/>
            </a:pPr>
            <a:r>
              <a:rPr lang="en-US" b="true" sz="1900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Frontend:</a:t>
            </a:r>
            <a:r>
              <a:rPr lang="en-US" sz="19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900" u="sng">
                <a:solidFill>
                  <a:srgbClr val="0563C1"/>
                </a:solidFill>
                <a:latin typeface="Source Sans 3"/>
                <a:ea typeface="Source Sans 3"/>
                <a:cs typeface="Source Sans 3"/>
                <a:sym typeface="Source Sans 3"/>
                <a:hlinkClick r:id="rId4" tooltip="http://localhost:4200"/>
              </a:rPr>
              <a:t>http://localhost:4200</a:t>
            </a:r>
            <a:r>
              <a:rPr lang="en-US" sz="19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(o la IP de tu VPS)</a:t>
            </a:r>
          </a:p>
          <a:p>
            <a:pPr algn="l" marL="458470" indent="-229235" lvl="1">
              <a:lnSpc>
                <a:spcPts val="3479"/>
              </a:lnSpc>
              <a:buFont typeface="Arial"/>
              <a:buChar char="•"/>
            </a:pPr>
            <a:r>
              <a:rPr lang="en-US" b="true" sz="1900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API Backend:</a:t>
            </a:r>
            <a:r>
              <a:rPr lang="en-US" sz="19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900" u="sng">
                <a:solidFill>
                  <a:srgbClr val="0563C1"/>
                </a:solidFill>
                <a:latin typeface="Source Sans 3"/>
                <a:ea typeface="Source Sans 3"/>
                <a:cs typeface="Source Sans 3"/>
                <a:sym typeface="Source Sans 3"/>
                <a:hlinkClick r:id="rId5" tooltip="http://localhost:8081"/>
              </a:rPr>
              <a:t>http://localhost:8081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8191" y="1181995"/>
            <a:ext cx="1152230" cy="527294"/>
            <a:chOff x="0" y="0"/>
            <a:chExt cx="1536306" cy="7030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6319" cy="703072"/>
            </a:xfrm>
            <a:custGeom>
              <a:avLst/>
              <a:gdLst/>
              <a:ahLst/>
              <a:cxnLst/>
              <a:rect r="r" b="b" t="t" l="l"/>
              <a:pathLst>
                <a:path h="703072" w="1536319">
                  <a:moveTo>
                    <a:pt x="0" y="45593"/>
                  </a:moveTo>
                  <a:cubicBezTo>
                    <a:pt x="0" y="20447"/>
                    <a:pt x="20447" y="0"/>
                    <a:pt x="45593" y="0"/>
                  </a:cubicBezTo>
                  <a:lnTo>
                    <a:pt x="1490726" y="0"/>
                  </a:lnTo>
                  <a:cubicBezTo>
                    <a:pt x="1515872" y="0"/>
                    <a:pt x="1536319" y="20447"/>
                    <a:pt x="1536319" y="45593"/>
                  </a:cubicBezTo>
                  <a:lnTo>
                    <a:pt x="1536319" y="657479"/>
                  </a:lnTo>
                  <a:cubicBezTo>
                    <a:pt x="1536319" y="682625"/>
                    <a:pt x="1515872" y="703072"/>
                    <a:pt x="1490726" y="703072"/>
                  </a:cubicBezTo>
                  <a:lnTo>
                    <a:pt x="45593" y="703072"/>
                  </a:lnTo>
                  <a:cubicBezTo>
                    <a:pt x="20447" y="703072"/>
                    <a:pt x="0" y="682625"/>
                    <a:pt x="0" y="657479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9194" y="1143591"/>
            <a:ext cx="810216" cy="48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7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FUTURO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8191" y="1656007"/>
            <a:ext cx="16220180" cy="100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52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Propuesta de modificaciones y ampliaciones futuras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8191" y="3064373"/>
            <a:ext cx="712889" cy="712889"/>
            <a:chOff x="0" y="0"/>
            <a:chExt cx="950519" cy="95051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50468" cy="950468"/>
            </a:xfrm>
            <a:custGeom>
              <a:avLst/>
              <a:gdLst/>
              <a:ahLst/>
              <a:cxnLst/>
              <a:rect r="r" b="b" t="t" l="l"/>
              <a:pathLst>
                <a:path h="950468" w="950468">
                  <a:moveTo>
                    <a:pt x="0" y="0"/>
                  </a:moveTo>
                  <a:lnTo>
                    <a:pt x="950468" y="0"/>
                  </a:lnTo>
                  <a:lnTo>
                    <a:pt x="950468" y="950468"/>
                  </a:lnTo>
                  <a:lnTo>
                    <a:pt x="0" y="950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8191" y="4040829"/>
            <a:ext cx="4362298" cy="4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Motor de Recomendaciones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8191" y="4556369"/>
            <a:ext cx="5203927" cy="147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Sistema inteligente que sugiere eventos según las preferencias y el historial del usuario.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41894" y="3064373"/>
            <a:ext cx="712889" cy="712889"/>
            <a:chOff x="0" y="0"/>
            <a:chExt cx="950519" cy="95051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50468" cy="950468"/>
            </a:xfrm>
            <a:custGeom>
              <a:avLst/>
              <a:gdLst/>
              <a:ahLst/>
              <a:cxnLst/>
              <a:rect r="r" b="b" t="t" l="l"/>
              <a:pathLst>
                <a:path h="950468" w="950468">
                  <a:moveTo>
                    <a:pt x="0" y="0"/>
                  </a:moveTo>
                  <a:lnTo>
                    <a:pt x="950468" y="0"/>
                  </a:lnTo>
                  <a:lnTo>
                    <a:pt x="950468" y="950468"/>
                  </a:lnTo>
                  <a:lnTo>
                    <a:pt x="0" y="950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541894" y="4040829"/>
            <a:ext cx="3355181" cy="4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Soporte Multi Idioma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41894" y="4556369"/>
            <a:ext cx="5204069" cy="103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Traducción automática para atraer turismo internacional y mejorar la accesibilidad.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85739" y="3064373"/>
            <a:ext cx="712889" cy="712889"/>
            <a:chOff x="0" y="0"/>
            <a:chExt cx="950519" cy="950519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50468" cy="950468"/>
            </a:xfrm>
            <a:custGeom>
              <a:avLst/>
              <a:gdLst/>
              <a:ahLst/>
              <a:cxnLst/>
              <a:rect r="r" b="b" t="t" l="l"/>
              <a:pathLst>
                <a:path h="950468" w="950468">
                  <a:moveTo>
                    <a:pt x="0" y="0"/>
                  </a:moveTo>
                  <a:lnTo>
                    <a:pt x="950468" y="0"/>
                  </a:lnTo>
                  <a:lnTo>
                    <a:pt x="950468" y="950468"/>
                  </a:lnTo>
                  <a:lnTo>
                    <a:pt x="0" y="950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85739" y="4040829"/>
            <a:ext cx="3845423" cy="4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Sistema de Gamificación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85739" y="4556369"/>
            <a:ext cx="5204069" cy="103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Recompensas y logros por asistir a eventos y participar activamente en la plataforma.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8191" y="6579098"/>
            <a:ext cx="712889" cy="712889"/>
            <a:chOff x="0" y="0"/>
            <a:chExt cx="950519" cy="950519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50468" cy="950468"/>
            </a:xfrm>
            <a:custGeom>
              <a:avLst/>
              <a:gdLst/>
              <a:ahLst/>
              <a:cxnLst/>
              <a:rect r="r" b="b" t="t" l="l"/>
              <a:pathLst>
                <a:path h="950468" w="950468">
                  <a:moveTo>
                    <a:pt x="0" y="0"/>
                  </a:moveTo>
                  <a:lnTo>
                    <a:pt x="950468" y="0"/>
                  </a:lnTo>
                  <a:lnTo>
                    <a:pt x="950468" y="950468"/>
                  </a:lnTo>
                  <a:lnTo>
                    <a:pt x="0" y="950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8191" y="7555554"/>
            <a:ext cx="3816544" cy="4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Colaboración Ciudadana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8191" y="8071094"/>
            <a:ext cx="5203927" cy="103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Permite a usuarios proponer y validar eventos locales para enriquecer la agenda.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41894" y="6579098"/>
            <a:ext cx="712889" cy="712889"/>
            <a:chOff x="0" y="0"/>
            <a:chExt cx="950519" cy="950519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950468" cy="950468"/>
            </a:xfrm>
            <a:custGeom>
              <a:avLst/>
              <a:gdLst/>
              <a:ahLst/>
              <a:cxnLst/>
              <a:rect r="r" b="b" t="t" l="l"/>
              <a:pathLst>
                <a:path h="950468" w="950468">
                  <a:moveTo>
                    <a:pt x="0" y="0"/>
                  </a:moveTo>
                  <a:lnTo>
                    <a:pt x="950468" y="0"/>
                  </a:lnTo>
                  <a:lnTo>
                    <a:pt x="950468" y="950468"/>
                  </a:lnTo>
                  <a:lnTo>
                    <a:pt x="0" y="950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541894" y="7555554"/>
            <a:ext cx="4398321" cy="49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26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Integración con Calendarios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41894" y="8071094"/>
            <a:ext cx="5204069" cy="103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2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Sincronización con Google Calendar y otros servicios para organizar mejor la asistencia.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150" y="2442867"/>
            <a:ext cx="1704975" cy="562270"/>
            <a:chOff x="0" y="0"/>
            <a:chExt cx="2273300" cy="7496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3300" cy="749681"/>
            </a:xfrm>
            <a:custGeom>
              <a:avLst/>
              <a:gdLst/>
              <a:ahLst/>
              <a:cxnLst/>
              <a:rect r="r" b="b" t="t" l="l"/>
              <a:pathLst>
                <a:path h="749681" w="2273300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2225421" y="0"/>
                  </a:lnTo>
                  <a:cubicBezTo>
                    <a:pt x="2251837" y="0"/>
                    <a:pt x="2273300" y="21463"/>
                    <a:pt x="2273300" y="47879"/>
                  </a:cubicBezTo>
                  <a:lnTo>
                    <a:pt x="2273300" y="701802"/>
                  </a:lnTo>
                  <a:cubicBezTo>
                    <a:pt x="2273300" y="728218"/>
                    <a:pt x="2251837" y="749681"/>
                    <a:pt x="2225421" y="749681"/>
                  </a:cubicBezTo>
                  <a:lnTo>
                    <a:pt x="47879" y="749681"/>
                  </a:lnTo>
                  <a:cubicBezTo>
                    <a:pt x="21463" y="749681"/>
                    <a:pt x="0" y="728218"/>
                    <a:pt x="0" y="701802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26639" y="2399262"/>
            <a:ext cx="1346006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8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0" y="3000975"/>
            <a:ext cx="5632399" cy="82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Conclusiones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0" y="4427191"/>
            <a:ext cx="5148558" cy="9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7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100%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1242" y="5712171"/>
            <a:ext cx="352023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Objetivos cumplidos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50" y="6245866"/>
            <a:ext cx="5148558" cy="159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Autenticación JWT, CRUD de eventos, comentarios, diseño responsivo y despliegue Docker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69716" y="4427191"/>
            <a:ext cx="5148558" cy="9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7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210h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83809" y="5712171"/>
            <a:ext cx="352023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Tiempo empleado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9716" y="6245866"/>
            <a:ext cx="5148558" cy="6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197h estimadas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2283" y="4427191"/>
            <a:ext cx="5148558" cy="98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7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06375" y="5712171"/>
            <a:ext cx="352023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700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Tablas MySQL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2283" y="6245866"/>
            <a:ext cx="5148558" cy="1119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Usuario, Municipio, Evento, Comentario, DetalleEvento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E4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EF5E7">
                <a:alpha val="72157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88384" y="2670124"/>
            <a:ext cx="16111090" cy="207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59"/>
              </a:lnSpc>
            </a:pPr>
            <a:r>
              <a:rPr lang="en-US" sz="110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¡Gracias por tu atención!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150" y="5031286"/>
            <a:ext cx="16193691" cy="6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Esperamos que EventMap Al-Andalus sea una herramienta útil para descubrir y disfrutar los eventos de nuestra hermosa región.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150" y="5846569"/>
            <a:ext cx="16193691" cy="6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Para más información o consultas, no dudes en contactarnos: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150" y="6661842"/>
            <a:ext cx="16193691" cy="6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b="true" sz="2300">
                <a:solidFill>
                  <a:srgbClr val="3A363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Web:</a:t>
            </a:r>
            <a:r>
              <a:rPr lang="en-US" sz="230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300" u="sng">
                <a:solidFill>
                  <a:srgbClr val="0563C1"/>
                </a:solidFill>
                <a:latin typeface="Source Sans 3"/>
                <a:ea typeface="Source Sans 3"/>
                <a:cs typeface="Source Sans 3"/>
                <a:sym typeface="Source Sans 3"/>
                <a:hlinkClick r:id="rId6" tooltip="http://217.160.32.30/"/>
              </a:rPr>
              <a:t>www.eventmapalandalus.com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DAHJqHwN8ps</dc:identifier>
  <dcterms:modified xsi:type="dcterms:W3CDTF">2011-08-01T06:04:30Z</dcterms:modified>
  <cp:revision>1</cp:revision>
  <dc:title>EventMap Al-Andalus</dc:title>
</cp:coreProperties>
</file>